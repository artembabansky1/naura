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433bea23234e53" /><Relationship Type="http://schemas.openxmlformats.org/officeDocument/2006/relationships/extended-properties" Target="/docProps/app.xml" Id="R941346e71e354c6d" /><Relationship Type="http://schemas.openxmlformats.org/officeDocument/2006/relationships/officeDocument" Target="/ppt/presentation.xml" Id="R4e4693d4de8942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738d3060b14879"/>
  </p:sldMasterIdLst>
  <p:notesMasterIdLst>
    <p:notesMasterId xmlns:r="http://schemas.openxmlformats.org/officeDocument/2006/relationships" r:id="Rcf55a4ab48a04128"/>
  </p:notesMasterIdLst>
  <p:sldIdLst>
    <p:sldId xmlns:r="http://schemas.openxmlformats.org/officeDocument/2006/relationships" id="256" r:id="R6bf7a988ad24428a"/>
    <p:sldId xmlns:r="http://schemas.openxmlformats.org/officeDocument/2006/relationships" id="257" r:id="R7f9c68b2a86c4dd6"/>
    <p:sldId xmlns:r="http://schemas.openxmlformats.org/officeDocument/2006/relationships" id="258" r:id="Rdbcd2d913b804c55"/>
    <p:sldId xmlns:r="http://schemas.openxmlformats.org/officeDocument/2006/relationships" id="259" r:id="R232e0a7aab4b4335"/>
    <p:sldId xmlns:r="http://schemas.openxmlformats.org/officeDocument/2006/relationships" id="260" r:id="R699f9829879045bf"/>
    <p:sldId xmlns:r="http://schemas.openxmlformats.org/officeDocument/2006/relationships" id="261" r:id="R9397e3541c54459c"/>
    <p:sldId xmlns:r="http://schemas.openxmlformats.org/officeDocument/2006/relationships" id="262" r:id="Rdd35898d6e5c4638"/>
    <p:sldId xmlns:r="http://schemas.openxmlformats.org/officeDocument/2006/relationships" id="263" r:id="R25b249c0a9704438"/>
    <p:sldId xmlns:r="http://schemas.openxmlformats.org/officeDocument/2006/relationships" id="264" r:id="R57dbfd2e9ced4166"/>
    <p:sldId xmlns:r="http://schemas.openxmlformats.org/officeDocument/2006/relationships" id="265" r:id="Re311de3ec5cf4c5b"/>
    <p:sldId xmlns:r="http://schemas.openxmlformats.org/officeDocument/2006/relationships" id="266" r:id="Reb048405c92e451b"/>
    <p:sldId xmlns:r="http://schemas.openxmlformats.org/officeDocument/2006/relationships" id="267" r:id="R885b5d2ef7604dfa"/>
    <p:sldId xmlns:r="http://schemas.openxmlformats.org/officeDocument/2006/relationships" id="268" r:id="R4057811f8917467d"/>
    <p:sldId xmlns:r="http://schemas.openxmlformats.org/officeDocument/2006/relationships" id="269" r:id="R42ac6f8418724e53"/>
    <p:sldId xmlns:r="http://schemas.openxmlformats.org/officeDocument/2006/relationships" id="270" r:id="Re257895fdab248ee"/>
    <p:sldId xmlns:r="http://schemas.openxmlformats.org/officeDocument/2006/relationships" id="271" r:id="Re24038bdf4df465b"/>
    <p:sldId xmlns:r="http://schemas.openxmlformats.org/officeDocument/2006/relationships" id="272" r:id="R2f6899c0112742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3e0dcbaf0448a2" /><Relationship Type="http://schemas.openxmlformats.org/officeDocument/2006/relationships/slideMaster" Target="/ppt/slideMasters/slideMaster1.xml" Id="R82738d3060b14879" /><Relationship Type="http://schemas.openxmlformats.org/officeDocument/2006/relationships/notesMaster" Target="/ppt/notesMasters/notesMaster1.xml" Id="Rcf55a4ab48a04128" /><Relationship Type="http://schemas.openxmlformats.org/officeDocument/2006/relationships/presProps" Target="/ppt/presProps.xml" Id="R458375fa5a7a4017" /><Relationship Type="http://schemas.openxmlformats.org/officeDocument/2006/relationships/tableStyles" Target="/ppt/tableStyles.xml" Id="R18e1070c0e204242" /><Relationship Type="http://schemas.openxmlformats.org/officeDocument/2006/relationships/slide" Target="/ppt/slides/slide1.xml" Id="R6bf7a988ad24428a" /><Relationship Type="http://schemas.openxmlformats.org/officeDocument/2006/relationships/slide" Target="/ppt/slides/slide2.xml" Id="R7f9c68b2a86c4dd6" /><Relationship Type="http://schemas.openxmlformats.org/officeDocument/2006/relationships/slide" Target="/ppt/slides/slide3.xml" Id="Rdbcd2d913b804c55" /><Relationship Type="http://schemas.openxmlformats.org/officeDocument/2006/relationships/slide" Target="/ppt/slides/slide4.xml" Id="R232e0a7aab4b4335" /><Relationship Type="http://schemas.openxmlformats.org/officeDocument/2006/relationships/slide" Target="/ppt/slides/slide5.xml" Id="R699f9829879045bf" /><Relationship Type="http://schemas.openxmlformats.org/officeDocument/2006/relationships/slide" Target="/ppt/slides/slide6.xml" Id="R9397e3541c54459c" /><Relationship Type="http://schemas.openxmlformats.org/officeDocument/2006/relationships/slide" Target="/ppt/slides/slide7.xml" Id="Rdd35898d6e5c4638" /><Relationship Type="http://schemas.openxmlformats.org/officeDocument/2006/relationships/slide" Target="/ppt/slides/slide8.xml" Id="R25b249c0a9704438" /><Relationship Type="http://schemas.openxmlformats.org/officeDocument/2006/relationships/slide" Target="/ppt/slides/slide9.xml" Id="R57dbfd2e9ced4166" /><Relationship Type="http://schemas.openxmlformats.org/officeDocument/2006/relationships/slide" Target="/ppt/slides/slide10.xml" Id="Re311de3ec5cf4c5b" /><Relationship Type="http://schemas.openxmlformats.org/officeDocument/2006/relationships/slide" Target="/ppt/slides/slide11.xml" Id="Reb048405c92e451b" /><Relationship Type="http://schemas.openxmlformats.org/officeDocument/2006/relationships/slide" Target="/ppt/slides/slide12.xml" Id="R885b5d2ef7604dfa" /><Relationship Type="http://schemas.openxmlformats.org/officeDocument/2006/relationships/slide" Target="/ppt/slides/slide13.xml" Id="R4057811f8917467d" /><Relationship Type="http://schemas.openxmlformats.org/officeDocument/2006/relationships/slide" Target="/ppt/slides/slide14.xml" Id="R42ac6f8418724e53" /><Relationship Type="http://schemas.openxmlformats.org/officeDocument/2006/relationships/slide" Target="/ppt/slides/slide15.xml" Id="Re257895fdab248ee" /><Relationship Type="http://schemas.openxmlformats.org/officeDocument/2006/relationships/slide" Target="/ppt/slides/slide16.xml" Id="Re24038bdf4df465b" /><Relationship Type="http://schemas.openxmlformats.org/officeDocument/2006/relationships/slide" Target="/ppt/slides/slide17.xml" Id="R2f6899c0112742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dae140eb4f4a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d50ad9192d441e" /><Relationship Type="http://schemas.openxmlformats.org/officeDocument/2006/relationships/notesMaster" Target="/ppt/notesMasters/notesMaster1.xml" Id="Ra8855b10094648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e5a1c329ac4ca8" /><Relationship Type="http://schemas.openxmlformats.org/officeDocument/2006/relationships/notesMaster" Target="/ppt/notesMasters/notesMaster1.xml" Id="R0318458fb25749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1481f6d4d046d2" /><Relationship Type="http://schemas.openxmlformats.org/officeDocument/2006/relationships/notesMaster" Target="/ppt/notesMasters/notesMaster1.xml" Id="Rbe7bc8e06af242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2d3b1ac25f46d1" /><Relationship Type="http://schemas.openxmlformats.org/officeDocument/2006/relationships/notesMaster" Target="/ppt/notesMasters/notesMaster1.xml" Id="R81395fd978584c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e9cd4e0a144aee" /><Relationship Type="http://schemas.openxmlformats.org/officeDocument/2006/relationships/notesMaster" Target="/ppt/notesMasters/notesMaster1.xml" Id="Re02ffbfd7c0545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6c2f8e78d64e28" /><Relationship Type="http://schemas.openxmlformats.org/officeDocument/2006/relationships/notesMaster" Target="/ppt/notesMasters/notesMaster1.xml" Id="Rf8d0c16ee65d46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a576bdbae44741" /><Relationship Type="http://schemas.openxmlformats.org/officeDocument/2006/relationships/notesMaster" Target="/ppt/notesMasters/notesMaster1.xml" Id="Re9b8cd20f82042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038407313b4240" /><Relationship Type="http://schemas.openxmlformats.org/officeDocument/2006/relationships/notesMaster" Target="/ppt/notesMasters/notesMaster1.xml" Id="Rbda63291501b48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7c74b05994435f" /><Relationship Type="http://schemas.openxmlformats.org/officeDocument/2006/relationships/notesMaster" Target="/ppt/notesMasters/notesMaster1.xml" Id="Rb6177738b1a54f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7e5af4d38b4097" /><Relationship Type="http://schemas.openxmlformats.org/officeDocument/2006/relationships/notesMaster" Target="/ppt/notesMasters/notesMaster1.xml" Id="R845e6d37448f46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5db8c2f7a44bbc" /><Relationship Type="http://schemas.openxmlformats.org/officeDocument/2006/relationships/notesMaster" Target="/ppt/notesMasters/notesMaster1.xml" Id="R09f54171834e412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7c2a333804445a" /><Relationship Type="http://schemas.openxmlformats.org/officeDocument/2006/relationships/notesMaster" Target="/ppt/notesMasters/notesMaster1.xml" Id="R224b4fb806314c8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732a3a0a5f9446e" /><Relationship Type="http://schemas.openxmlformats.org/officeDocument/2006/relationships/notesMaster" Target="/ppt/notesMasters/notesMaster1.xml" Id="R629b58992eba47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e0f589a0fe743ac" /><Relationship Type="http://schemas.openxmlformats.org/officeDocument/2006/relationships/notesMaster" Target="/ppt/notesMasters/notesMaster1.xml" Id="R1156acfe7d384f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de292a4e724c4d" /><Relationship Type="http://schemas.openxmlformats.org/officeDocument/2006/relationships/notesMaster" Target="/ppt/notesMasters/notesMaster1.xml" Id="R6eee1a655ccf4aa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f5e6e3ada746a9" /><Relationship Type="http://schemas.openxmlformats.org/officeDocument/2006/relationships/notesMaster" Target="/ppt/notesMasters/notesMaster1.xml" Id="R01666c53799949a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b62ef09cd84418f" /><Relationship Type="http://schemas.openxmlformats.org/officeDocument/2006/relationships/notesMaster" Target="/ppt/notesMasters/notesMaster1.xml" Id="R132b1126b6d344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Рекомендация: #356F6B для CRM, #5754A8 для Cards, #FB4D00 для Meets. Новая триада является дизайнерским предложением, а не измеренным результатом пользовательского исследования. Оранжевый подтверждён в исходниках Meets. Консилиум: независимые исследования CRM, Cards/Meets и системный критик с расчётом контраста. Сайт в рамках исследования не менялся.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метод: проверено 16 сентября 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Фактическая база взята из src/pages/BusinessCardsPage/BusinessCardsPage.css: --bc-canvas, --bc-paper, --bc-sand, --bc-ink. На сайте используется Vela Sans; в презентации — доступный Helvetica Neue. Позиционирование CRM прочитано в src/i18n/locales/ru/hero.json: управление социальным капиталом, контакты, тёплые знакомства. Формулировки ролей продуктов — краткая авторская интерпретация.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метод: проверено 16 сентября 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Визуальные наблюдения официальных сайтов не равны их полным брендбукам или рабочим интерфейсам. HubSpot официально называет знак оранжевым. Для Pipedrive использован официальный partner media kit 2024, стр.6; текущая главная блокировала браузерный осмотр. clay.earth перенаправляет в Mesh, переименование подтверждено на me.sh/story. Не путать с clay.com. Выборка не даёт долей рынка и не доказывает психологический эффект цвета.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метод: проверено 16 сентября 2026.</a:t>
            </a:r>
          </a:p>
          <a:p xmlns:a="http://schemas.openxmlformats.org/drawingml/2006/main">
            <a:r>
              <a:t>https://www.salesforce.com/crm/</a:t>
            </a:r>
          </a:p>
          <a:p xmlns:a="http://schemas.openxmlformats.org/drawingml/2006/main">
            <a:r>
              <a:t>https://www.hubspot.com/products/crm</a:t>
            </a:r>
          </a:p>
          <a:p xmlns:a="http://schemas.openxmlformats.org/drawingml/2006/main">
            <a:r>
              <a:t>https://legal.hubspot.com/tm-usage-guidelines</a:t>
            </a:r>
          </a:p>
          <a:p xmlns:a="http://schemas.openxmlformats.org/drawingml/2006/main">
            <a:r>
              <a:t>https://www.pipedrive.com/en/newsroom/press-kit</a:t>
            </a:r>
          </a:p>
          <a:p xmlns:a="http://schemas.openxmlformats.org/drawingml/2006/main">
            <a:r>
              <a:t>https://www-cms.pipedriveassets.com/documents/partnermediakit-2024.pdf</a:t>
            </a:r>
          </a:p>
          <a:p xmlns:a="http://schemas.openxmlformats.org/drawingml/2006/main">
            <a:r>
              <a:t>https://attio.com/</a:t>
            </a:r>
          </a:p>
          <a:p xmlns:a="http://schemas.openxmlformats.org/drawingml/2006/main">
            <a:r>
              <a:t>https://attio.com/brand</a:t>
            </a:r>
          </a:p>
          <a:p xmlns:a="http://schemas.openxmlformats.org/drawingml/2006/main">
            <a:r>
              <a:t>https://www.folk.app/</a:t>
            </a:r>
          </a:p>
          <a:p xmlns:a="http://schemas.openxmlformats.org/drawingml/2006/main">
            <a:r>
              <a:t>https://me.sh/</a:t>
            </a:r>
          </a:p>
          <a:p xmlns:a="http://schemas.openxmlformats.org/drawingml/2006/main">
            <a:r>
              <a:t>https://me.sh/story</a:t>
            </a:r>
          </a:p>
          <a:p xmlns:a="http://schemas.openxmlformats.org/drawingml/2006/main">
            <a:r>
              <a:t>https://getdex.com/</a:t>
            </a:r>
          </a:p>
          <a:p xmlns:a="http://schemas.openxmlformats.org/drawingml/2006/main">
            <a:r>
              <a:t>https://getdex.com/about/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Факты предложения и визуальные наблюдения получены на четырёх официальных страницах 16.09.2026. Blinq сейчас коралловый на кремовом — не переносим старое оформление из памяти. У Popl разные продуктовые страницы имеют разные мягкие фоны при тёмной типографике. Рекомендация не подчинять пользовательские визитки фирменному индиго — дизайнерское решение Naura.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метод: проверено 16 сентября 2026.</a:t>
            </a:r>
          </a:p>
          <a:p xmlns:a="http://schemas.openxmlformats.org/drawingml/2006/main">
            <a:r>
              <a:t>https://www.hihello.com/</a:t>
            </a:r>
          </a:p>
          <a:p xmlns:a="http://schemas.openxmlformats.org/drawingml/2006/main">
            <a:r>
              <a:t>https://blinq.me/</a:t>
            </a:r>
          </a:p>
          <a:p xmlns:a="http://schemas.openxmlformats.org/drawingml/2006/main">
            <a:r>
              <a:t>https://popl.co/pages/digital-business-card</a:t>
            </a:r>
          </a:p>
          <a:p xmlns:a="http://schemas.openxmlformats.org/drawingml/2006/main">
            <a:r>
              <a:t>https://www.mobilocard.com/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Визуальный срез официальных сайтов: RandomCoffee и Donut близки по механике профессиональных/корпоративных знакомств; Lunchclub профессиональный интро; Timeleft смежный социальный сервис. Доступность публичного сайта Lunchclub не подтверждает операционную активность. #FB4D00 найден в src/pages/MeetsRedesign/meetsScreen.js:23. Это не утверждение, что все оранжевые пиксели изображений имеют один HEX. Рекомендация — преемственность, а не обещание роста конверсии.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метод: проверено 16 сентября 2026.</a:t>
            </a:r>
          </a:p>
          <a:p xmlns:a="http://schemas.openxmlformats.org/drawingml/2006/main">
            <a:r>
              <a:t>https://www.random-coffee.com/</a:t>
            </a:r>
          </a:p>
          <a:p xmlns:a="http://schemas.openxmlformats.org/drawingml/2006/main">
            <a:r>
              <a:t>https://www.donut.com/</a:t>
            </a:r>
          </a:p>
          <a:p xmlns:a="http://schemas.openxmlformats.org/drawingml/2006/main">
            <a:r>
              <a:t>https://lunchclub.com/</a:t>
            </a:r>
          </a:p>
          <a:p xmlns:a="http://schemas.openxmlformats.org/drawingml/2006/main">
            <a:r>
              <a:t>https://timeleft.com/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Авторские системы, не измеренная популярность. A рекомендована консилиумом. B и C — альтернативные композиционные направления. Для Cards также рассматривались #8159A6 и #4E5FA8. Итог #5754A8 выбран как более чернильный и контрастный вариант. Accent на canvas: индиго 5.847:1 против фиолетового 4.840:1. На собственном tint: 4.949:1 против 4.166:1. Фиолетовый может оказаться различимее рядом с teal по оттенку; это требует пользовательской проверки.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метод: проверено 16 сентября 2026.</a:t>
            </a:r>
          </a:p>
          <a:p xmlns:a="http://schemas.openxmlformats.org/drawingml/2006/main">
            <a:r>
              <a:t>https://www.w3.org/WAI/WCAG22/Understanding/contrast-minimum.html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Визуал создан встроенным imagegen для демонстрации дозировки акцента. Это концепт, а не снимок реального приложения. Не предлагается переносить типографику, текст или компоновку генерации; на сайте сохраняется Vela Sans и существующая сетка. Точные роли и HEX определяет таблица токенов, а не пиксели визуала. Промпт и исходник сохранены в папке сборки. CRM: глубокий бирюзовый Спокойный индекс продукта для долгосрочных отношений. Маркер CRM, активные элементы, детали графа связей. Не превращать брендовый teal в универсальный статус «успешно».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метод: проверено 16 сентября 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Визуал создан встроенным imagegen для демонстрации дозировки акцента. Это концепт, а не снимок реального приложения. Не предлагается переносить типографику, текст или компоновку генерации; на сайте сохраняется Vela Sans и существующая сетка. Точные роли и HEX определяет таблица токенов, а не пиксели визуала. Промпт и исходник сохранены в папке сборки. Cards: чернильный индиго Цветная краска на тёплой бумажной основе. Оболочка Cards, обмен контактом, маленькие графические акценты. Не перекрашивать бренды и визитки пользователей.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метод: проверено 16 сентября 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Визуал создан встроенным imagegen для демонстрации дозировки акцента. Это концепт, а не снимок реального приложения. Не предлагается переносить типографику, текст или компоновку генерации; на сайте сохраняется Vela Sans и существующая сетка. Точные роли и HEX определяет таблица токенов, а не пиксели визуала. Промпт и исходник сохранены в папке сборки. Meets: живой оранжевый Преемственность уже созданной идентичности. Детали фото, маркер совпадения, небольшая карточка или акцентное слово. На яркой заливке — тёмный текст. Для мелких подписей — тёмный orange.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метод: проверено 16 сентября 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Практическая рекомендация: один продуктовый акцент на странице, чёрная основная типографика, ограниченное число цветных слов. Для текстового акцента применять Ink. Для фоновых карточек Tint. Не затонировать все лица в фирменный оттенок. Не задаём универсальное правило процента цвета: площадь проверяется в конкретном макете. Основной CTA предлагается сохранить общим чёрным. Цветные действия в сгенерированных концептах — локальная демонстрация, не обязательная замена CTA.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метод: проверено 16 сентября 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Авторские токены Naura. Tint: смешивание восьмибитных sRGB-компонент 0.12*accent + 0.88*canvas, затем округление. Это выбранный способ получения фона, не доказанный универсальный процент использования цвета. Ink предназначен для обычного небольшого текста на Canvas/Tint. Не переносить значения контраста на песочный фон или фото без отдельного расчёта.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метод: проверено 16 сентября 2026.</a:t>
            </a:r>
          </a:p>
          <a:p xmlns:a="http://schemas.openxmlformats.org/drawingml/2006/main">
            <a:r>
              <a:t>https://www.w3.org/WAI/WCAG22/Understanding/contrast-minimum.html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Расчёт по относительной яркости sRGB, формула W3C. Белый = #FFFFFF; Чёрный Naura = #0B0B0B; светлый фон = #F4F3F1. Порог проверялся по неокруглённым значениям. Для крупного текста порог 3:1; для значимых графических частей и признаков состояния — 3:1 к смежному цвету. Это проверка перечисленных пар, а не WCAG-аудит сайта. Orange на canvas 3.072:1, поэтому для обычного текста нужен #A83200. Ink/canvas: 8.642,10.049,6.067.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метод: проверено 16 сентября 2026.</a:t>
            </a:r>
          </a:p>
          <a:p xmlns:a="http://schemas.openxmlformats.org/drawingml/2006/main">
            <a:r>
              <a:t>https://www.w3.org/WAI/WCAG22/Understanding/contrast-minimum.html</a:t>
            </a:r>
          </a:p>
          <a:p xmlns:a="http://schemas.openxmlformats.org/drawingml/2006/main">
            <a:r>
              <a:t>https://www.w3.org/WAI/WCAG22/Understanding/non-text-contrast.html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Сильный контраргумент основной триаде: Meets насыщеннее и может выглядеть важнее; CRM и Cards оба холодные и имеют контраст друг к другу всего1.123:1. Это число не является тестом различимости оттенков или CVD. Ни одна система не объявлена безопасной для всех видов цветового зрения. Названия, формы и иконки дополняют цвет. Симуляции готовых экранов и пользовательские проверки пока не выполнялись.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метод: проверено 16 сентября 2026.</a:t>
            </a:r>
          </a:p>
          <a:p xmlns:a="http://schemas.openxmlformats.org/drawingml/2006/main">
            <a:r>
              <a:t>https://www.w3.org/WAI/WCAG22/Understanding/use-of-color.html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Рекомендуемый пилот, не уже проведённый эксперимент. Показывать продуктовый переход, hero, карточку, выбранное состояние и форму. Для бизнес-эффекта нужна заранее выбранная метрика и достаточный трафик. Не обещаем повышение конверсии. Для печатных материалов потребуется профиль процесса и проба, универсальный CMYK не задаём.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метод: проверено 16 сентября 2026.</a:t>
            </a:r>
          </a:p>
          <a:p xmlns:a="http://schemas.openxmlformats.org/drawingml/2006/main">
            <a:r>
              <a:t>https://www.w3.org/WAI/WCAG22/Understanding/use-of-color.html</a:t>
            </a:r>
          </a:p>
          <a:p xmlns:a="http://schemas.openxmlformats.org/drawingml/2006/main">
            <a:r>
              <a:t>https://www.w3.org/WAI/WCAG22/Understanding/contrast-minimum.html</a:t>
            </a:r>
          </a:p>
          <a:p xmlns:a="http://schemas.openxmlformats.org/drawingml/2006/main">
            <a:r>
              <a:t>https://www.color.org/findprofile/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Итог трёх независимых исследовательских направлений и редакторского решения. Основные цвета #356F6B #5754A8 #FB4D00. Цветовые смыслы — дизайн-интерпретация, а не универсальная психология. Основные риски и альтернативы раскрыты. Презентация не означает, что цвета уже внедрены или проверены аудиторией.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метод: проверено 16 сентября 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Полные источники исследования CRM. Цвета названы семействами, без выдуманных официальных HEX. Проверка сайта Pipedrive ограничена; применён медиакит 2024. Исследование источников отделено от дизайнерских выводов.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метод: проверено 16 сентября 2026.</a:t>
            </a:r>
          </a:p>
          <a:p xmlns:a="http://schemas.openxmlformats.org/drawingml/2006/main">
            <a:r>
              <a:t>https://www.salesforce.com/crm/</a:t>
            </a:r>
          </a:p>
          <a:p xmlns:a="http://schemas.openxmlformats.org/drawingml/2006/main">
            <a:r>
              <a:t>https://www.hubspot.com/products/crm</a:t>
            </a:r>
          </a:p>
          <a:p xmlns:a="http://schemas.openxmlformats.org/drawingml/2006/main">
            <a:r>
              <a:t>https://legal.hubspot.com/tm-usage-guidelines</a:t>
            </a:r>
          </a:p>
          <a:p xmlns:a="http://schemas.openxmlformats.org/drawingml/2006/main">
            <a:r>
              <a:t>https://www.pipedrive.com/en/newsroom/press-kit</a:t>
            </a:r>
          </a:p>
          <a:p xmlns:a="http://schemas.openxmlformats.org/drawingml/2006/main">
            <a:r>
              <a:t>https://www-cms.pipedriveassets.com/documents/partnermediakit-2024.pdf</a:t>
            </a:r>
          </a:p>
          <a:p xmlns:a="http://schemas.openxmlformats.org/drawingml/2006/main">
            <a:r>
              <a:t>https://attio.com/</a:t>
            </a:r>
          </a:p>
          <a:p xmlns:a="http://schemas.openxmlformats.org/drawingml/2006/main">
            <a:r>
              <a:t>https://attio.com/brand</a:t>
            </a:r>
          </a:p>
          <a:p xmlns:a="http://schemas.openxmlformats.org/drawingml/2006/main">
            <a:r>
              <a:t>https://www.folk.app/</a:t>
            </a:r>
          </a:p>
          <a:p xmlns:a="http://schemas.openxmlformats.org/drawingml/2006/main">
            <a:r>
              <a:t>https://me.sh/</a:t>
            </a:r>
          </a:p>
          <a:p xmlns:a="http://schemas.openxmlformats.org/drawingml/2006/main">
            <a:r>
              <a:t>https://me.sh/story</a:t>
            </a:r>
          </a:p>
          <a:p xmlns:a="http://schemas.openxmlformats.org/drawingml/2006/main">
            <a:r>
              <a:t>https://getdex.com/</a:t>
            </a:r>
          </a:p>
          <a:p xmlns:a="http://schemas.openxmlformats.org/drawingml/2006/main">
            <a:r>
              <a:t>https://getdex.com/about/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Исследование — качественная выборка 15 брендов, не оценка долей рынка. Проверены перечисленные пары контраста; полный аудит доступности не проводился. Все иллюстрации продукта в слайдах7–9 сгенерированы для объяснения цвета. Точные токены задаются таблицей, а не картинками.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метод: проверено 16 сентября 2026.</a:t>
            </a:r>
          </a:p>
          <a:p xmlns:a="http://schemas.openxmlformats.org/drawingml/2006/main">
            <a:r>
              <a:t>https://www.hihello.com/</a:t>
            </a:r>
          </a:p>
          <a:p xmlns:a="http://schemas.openxmlformats.org/drawingml/2006/main">
            <a:r>
              <a:t>https://blinq.me/</a:t>
            </a:r>
          </a:p>
          <a:p xmlns:a="http://schemas.openxmlformats.org/drawingml/2006/main">
            <a:r>
              <a:t>https://popl.co/pages/digital-business-card</a:t>
            </a:r>
          </a:p>
          <a:p xmlns:a="http://schemas.openxmlformats.org/drawingml/2006/main">
            <a:r>
              <a:t>https://www.mobilocard.com/</a:t>
            </a:r>
          </a:p>
          <a:p xmlns:a="http://schemas.openxmlformats.org/drawingml/2006/main">
            <a:r>
              <a:t>https://www.random-coffee.com/</a:t>
            </a:r>
          </a:p>
          <a:p xmlns:a="http://schemas.openxmlformats.org/drawingml/2006/main">
            <a:r>
              <a:t>https://www.donut.com/</a:t>
            </a:r>
          </a:p>
          <a:p xmlns:a="http://schemas.openxmlformats.org/drawingml/2006/main">
            <a:r>
              <a:t>https://lunchclub.com/</a:t>
            </a:r>
          </a:p>
          <a:p xmlns:a="http://schemas.openxmlformats.org/drawingml/2006/main">
            <a:r>
              <a:t>https://timeleft.com/</a:t>
            </a:r>
          </a:p>
          <a:p xmlns:a="http://schemas.openxmlformats.org/drawingml/2006/main">
            <a:r>
              <a:t>https://www.w3.org/WAI/WCAG22/Understanding/contrast-minimum.html</a:t>
            </a:r>
          </a:p>
          <a:p xmlns:a="http://schemas.openxmlformats.org/drawingml/2006/main">
            <a:r>
              <a:t>https://www.w3.org/WAI/WCAG22/Understanding/use-of-color.html</a:t>
            </a:r>
          </a:p>
          <a:p xmlns:a="http://schemas.openxmlformats.org/drawingml/2006/main">
            <a:r>
              <a:t>https://www.w3.org/WAI/WCAG22/Understanding/non-text-contrast.html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e8243e5e9046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5e30007ced4000" /><Relationship Type="http://schemas.openxmlformats.org/officeDocument/2006/relationships/slideLayout" Target="/ppt/slideLayouts/slideLayout1.xml" Id="R26e93eb7bbd042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e93eb7bbd042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184bca75d407d" /><Relationship Type="http://schemas.openxmlformats.org/officeDocument/2006/relationships/notesSlide" Target="/ppt/notesSlides/notesSlide1.xml" Id="R3a4cbbb4391642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413a432984757" /><Relationship Type="http://schemas.openxmlformats.org/officeDocument/2006/relationships/notesSlide" Target="/ppt/notesSlides/notesSlide2.xml" Id="R8065381a34fa48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cb08713384ab1" /><Relationship Type="http://schemas.openxmlformats.org/officeDocument/2006/relationships/notesSlide" Target="/ppt/notesSlides/notesSlide3.xml" Id="R3abaa36f535246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6be985e574ffd" /><Relationship Type="http://schemas.openxmlformats.org/officeDocument/2006/relationships/notesSlide" Target="/ppt/notesSlides/notesSlide4.xml" Id="R59d5890a39964a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ffd2ea4e74f26" /><Relationship Type="http://schemas.openxmlformats.org/officeDocument/2006/relationships/notesSlide" Target="/ppt/notesSlides/notesSlide5.xml" Id="Rf09ea90de1b64e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17155f4e84ba2" /><Relationship Type="http://schemas.openxmlformats.org/officeDocument/2006/relationships/notesSlide" Target="/ppt/notesSlides/notesSlide6.xml" Id="R6275db1a05054c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bfa93640c4b1b" /><Relationship Type="http://schemas.openxmlformats.org/officeDocument/2006/relationships/image" Target="/ppt/media/image.png" Id="R7455620a0f9f4b18" /><Relationship Type="http://schemas.openxmlformats.org/officeDocument/2006/relationships/notesSlide" Target="/ppt/notesSlides/notesSlide7.xml" Id="Rc61355b5659945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a4ad159944098" /><Relationship Type="http://schemas.openxmlformats.org/officeDocument/2006/relationships/image" Target="/ppt/media/image2.png" Id="R6720292043814276" /><Relationship Type="http://schemas.openxmlformats.org/officeDocument/2006/relationships/notesSlide" Target="/ppt/notesSlides/notesSlide8.xml" Id="Rcda11c1f22cf40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e04dd07694c77" /><Relationship Type="http://schemas.openxmlformats.org/officeDocument/2006/relationships/image" Target="/ppt/media/image3.png" Id="R9c26f0f42abf4063" /><Relationship Type="http://schemas.openxmlformats.org/officeDocument/2006/relationships/notesSlide" Target="/ppt/notesSlides/notesSlide9.xml" Id="R642e23bb495c43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c7562b2b24f3a" /><Relationship Type="http://schemas.openxmlformats.org/officeDocument/2006/relationships/notesSlide" Target="/ppt/notesSlides/notesSlide10.xml" Id="Rc38cd42f08f44b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c56e0b7424fa6" /><Relationship Type="http://schemas.openxmlformats.org/officeDocument/2006/relationships/notesSlide" Target="/ppt/notesSlides/notesSlide11.xml" Id="Rdd8c185118f84c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0e18a52cb41fd" /><Relationship Type="http://schemas.openxmlformats.org/officeDocument/2006/relationships/notesSlide" Target="/ppt/notesSlides/notesSlide12.xml" Id="R81b9629912ca4cd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00410eb5142aa" /><Relationship Type="http://schemas.openxmlformats.org/officeDocument/2006/relationships/notesSlide" Target="/ppt/notesSlides/notesSlide13.xml" Id="Rf0c5f7e616a04a6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37c6ae0434506" /><Relationship Type="http://schemas.openxmlformats.org/officeDocument/2006/relationships/notesSlide" Target="/ppt/notesSlides/notesSlide14.xml" Id="R9de983f252834b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5222ea2464257" /><Relationship Type="http://schemas.openxmlformats.org/officeDocument/2006/relationships/notesSlide" Target="/ppt/notesSlides/notesSlide15.xml" Id="R2690634050e148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a373bb6fc414f" /><Relationship Type="http://schemas.openxmlformats.org/officeDocument/2006/relationships/hyperlink" Target="https://www.salesforce.com/crm/" TargetMode="External" Id="Rb59551f7f3c843dc" /><Relationship Type="http://schemas.openxmlformats.org/officeDocument/2006/relationships/hyperlink" Target="https://www.hubspot.com/products/crm" TargetMode="External" Id="Ra9edc19c93b24b6a" /><Relationship Type="http://schemas.openxmlformats.org/officeDocument/2006/relationships/hyperlink" Target="https://www.pipedrive.com/en/newsroom/press-kit" TargetMode="External" Id="R55db7064afda4d0c" /><Relationship Type="http://schemas.openxmlformats.org/officeDocument/2006/relationships/hyperlink" Target="https://attio.com/brand" TargetMode="External" Id="R5cea976e0d0d47df" /><Relationship Type="http://schemas.openxmlformats.org/officeDocument/2006/relationships/hyperlink" Target="https://www.folk.app/" TargetMode="External" Id="R858c1b6e03d145b1" /><Relationship Type="http://schemas.openxmlformats.org/officeDocument/2006/relationships/hyperlink" Target="https://me.sh/story" TargetMode="External" Id="Ra8625c0a895742d6" /><Relationship Type="http://schemas.openxmlformats.org/officeDocument/2006/relationships/hyperlink" Target="https://getdex.com/about/" TargetMode="External" Id="R65d8081c34b24fd6" /><Relationship Type="http://schemas.openxmlformats.org/officeDocument/2006/relationships/notesSlide" Target="/ppt/notesSlides/notesSlide16.xml" Id="Rba9eb4b4dd80444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7edc46d9546cf" /><Relationship Type="http://schemas.openxmlformats.org/officeDocument/2006/relationships/hyperlink" Target="https://www.hihello.com/" TargetMode="External" Id="Rcc1754c251fd431d" /><Relationship Type="http://schemas.openxmlformats.org/officeDocument/2006/relationships/hyperlink" Target="https://blinq.me/" TargetMode="External" Id="R9d8d084884554e0e" /><Relationship Type="http://schemas.openxmlformats.org/officeDocument/2006/relationships/hyperlink" Target="https://popl.co/pages/digital-business-card" TargetMode="External" Id="Rafa8c4374696493f" /><Relationship Type="http://schemas.openxmlformats.org/officeDocument/2006/relationships/hyperlink" Target="https://www.mobilocard.com/" TargetMode="External" Id="R522e2d442b2d4f2b" /><Relationship Type="http://schemas.openxmlformats.org/officeDocument/2006/relationships/hyperlink" Target="https://www.random-coffee.com/" TargetMode="External" Id="R5795ba4f7498495b" /><Relationship Type="http://schemas.openxmlformats.org/officeDocument/2006/relationships/hyperlink" Target="https://www.donut.com/" TargetMode="External" Id="Rc9b8bd01c3724fd4" /><Relationship Type="http://schemas.openxmlformats.org/officeDocument/2006/relationships/hyperlink" Target="https://lunchclub.com/" TargetMode="External" Id="R0883511a3c094891" /><Relationship Type="http://schemas.openxmlformats.org/officeDocument/2006/relationships/hyperlink" Target="https://timeleft.com/" TargetMode="External" Id="R94634e65a34b4303" /><Relationship Type="http://schemas.openxmlformats.org/officeDocument/2006/relationships/hyperlink" Target="https://www.w3.org/WAI/WCAG22/Understanding/contrast-minimum.html" TargetMode="External" Id="Reb6e63db90c24463" /><Relationship Type="http://schemas.openxmlformats.org/officeDocument/2006/relationships/hyperlink" Target="https://www.w3.org/WAI/WCAG22/Understanding/use-of-color.html" TargetMode="External" Id="Rcc19ad269c4c40c6" /><Relationship Type="http://schemas.openxmlformats.org/officeDocument/2006/relationships/hyperlink" Target="https://www.w3.org/WAI/WCAG22/Understanding/non-text-contrast.html" TargetMode="External" Id="Rfb670b0f83384c36" /><Relationship Type="http://schemas.openxmlformats.org/officeDocument/2006/relationships/notesSlide" Target="/ppt/notesSlides/notesSlide17.xml" Id="R59df6082829349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2D17F-3A17-4855-8EC2-D533075F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Одной экосистеме —</a:t>
            </a:r>
          </a:p>
          <a:p xmlns:a="http://schemas.openxmlformats.org/drawingml/2006/main">
            <a:pPr algn="l">
              <a:def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три акцента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D106E-508E-4CBB-BBA9-4B76C9B4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1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Цветовая стратегия Naura · рекомендация консилиума · сентябрь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102C1-1B71-48C7-823F-61E3647A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91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905125"/>
          <a:ext xmlns:a="http://schemas.openxmlformats.org/drawingml/2006/main" cx="109728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1047750">
                <a:tc>
                  <a:txBody>
                    <a:bodyPr/>
                    <a:lstStyle/>
                    <a:p>
                      <a:r>
                        <a:rPr sz="31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CRM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356F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1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Cards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5754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150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Meets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B4D00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#356F6B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356F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#5754A8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5754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#FB4D00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B4D0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F11EB-E56B-4DF1-BF49-CFC2EB85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9225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4C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04C49"/>
                </a:solidFill>
                <a:latin typeface="Helvetica Neue"/>
                <a:ea typeface="Helvetica Neue"/>
                <a:cs typeface="Helvetica Neue"/>
              </a:rPr>
              <a:t>Глубокий бирюзовый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3A164-8024-4ED1-B905-5DCD2389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29225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834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8346E"/>
                </a:solidFill>
                <a:latin typeface="Helvetica Neue"/>
                <a:ea typeface="Helvetica Neue"/>
                <a:cs typeface="Helvetica Neue"/>
              </a:rPr>
              <a:t>Чернильный индиго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C875F-7804-4028-B505-5E24194F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29225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832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83200"/>
                </a:solidFill>
                <a:latin typeface="Helvetica Neue"/>
                <a:ea typeface="Helvetica Neue"/>
                <a:cs typeface="Helvetica Neue"/>
              </a:rPr>
              <a:t>Живой оранжевый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F3C42-0195-43D0-B69F-14008888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36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Общую бежевую основу и чёрную типографику сохраняем.</a:t>
            </a:r>
          </a:p>
        </p:txBody>
      </p:sp>
    </p:spTree>
    <p:extLst>
      <p:ext uri="{BB962C8B-B14F-4D97-AF65-F5344CB8AC3E}">
        <p14:creationId xmlns:p14="http://schemas.microsoft.com/office/powerpoint/2010/main" val="19038045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34801-4E84-4ABA-B1EA-02795976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Семейство создаёт общая основа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EE8E1-36F0-4B89-9D78-D4A6646B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1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Акцент помогает узнать продукт. Среда, типографика и поведение остаются общими.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89B9E-F482-44D8-BC9C-00455870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91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352675"/>
          <a:ext xmlns:a="http://schemas.openxmlformats.org/drawingml/2006/main" cx="10972800" cy="1752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876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Тёплый фон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4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Светлая поверхность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Песочное поле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D8D0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DFDF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Основной текст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0B0B0B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#F4F3F1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4F3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#FDFDFC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#D8D0C2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D8D0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DFDF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#0B0B0B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0B0B0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D0567-E55E-4DB3-8073-40955502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4C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04C49"/>
                </a:solidFill>
                <a:latin typeface="Helvetica Neue"/>
                <a:ea typeface="Helvetica Neue"/>
                <a:cs typeface="Helvetica Neue"/>
              </a:rPr>
              <a:t>CRM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981BA-23F7-45DA-AAF6-EEBD0E46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Развивать отношения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CF76C-04A8-4BFD-95B3-72EAC4EA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148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834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8346E"/>
                </a:solidFill>
                <a:latin typeface="Helvetica Neue"/>
                <a:ea typeface="Helvetica Neue"/>
                <a:cs typeface="Helvetica Neue"/>
              </a:rPr>
              <a:t>Cards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8E0AC-64A9-4D6E-B3BF-D4002F02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7205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Представить себя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E4394-77C1-44CD-B175-3BF7C7F5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148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832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A83200"/>
                </a:solidFill>
                <a:latin typeface="Helvetica Neue"/>
                <a:ea typeface="Helvetica Neue"/>
                <a:cs typeface="Helvetica Neue"/>
              </a:rPr>
              <a:t>Meets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85873-3A98-485A-88AC-F15A0201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7205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Начать разговор</a:t>
            </a:r>
          </a:p>
        </p:txBody>
      </p:sp>
    </p:spTree>
    <p:extLst>
      <p:ext uri="{BB962C8B-B14F-4D97-AF65-F5344CB8AC3E}">
        <p14:creationId xmlns:p14="http://schemas.microsoft.com/office/powerpoint/2010/main" val="16032538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08311-6CF8-49A8-99F5-86E69710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CRM не обязан быть синим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5375E-79E2-41B3-9750-7B2400DA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1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В выборке есть и яркие бренды, и почти монохромные системы.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E4EFF-9045-4B8F-B8AC-D7EEC118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91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52675"/>
          <a:ext xmlns:a="http://schemas.openxmlformats.org/drawingml/2006/main" cx="7000875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4572000"/>
              </a:tblGrid>
              <a:tr h="438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Бренд</a:t>
                      </a:r>
                    </a:p>
                  </a:txBody>
                  <a:tcPr marL="171450" marR="171450" marT="57150" marB="5715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D8D0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Наблюдаемая палитра</a:t>
                      </a:r>
                    </a:p>
                  </a:txBody>
                  <a:tcPr marL="171450" marR="171450" marT="57150" marB="5715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D8D0C2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Salesforce</a:t>
                      </a:r>
                    </a:p>
                  </a:txBody>
                  <a:tcPr marL="171450" marR="171450" marT="57150" marB="5715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Синий / голубой</a:t>
                      </a:r>
                    </a:p>
                  </a:txBody>
                  <a:tcPr marL="171450" marR="171450" marT="57150" marB="5715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HubSpot</a:t>
                      </a:r>
                    </a:p>
                  </a:txBody>
                  <a:tcPr marL="171450" marR="171450" marT="57150" marB="5715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Оранжевый</a:t>
                      </a:r>
                    </a:p>
                  </a:txBody>
                  <a:tcPr marL="171450" marR="171450" marT="57150" marB="5715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Pipedrive</a:t>
                      </a:r>
                    </a:p>
                  </a:txBody>
                  <a:tcPr marL="171450" marR="171450" marT="57150" marB="5715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Зелёный в медиаките</a:t>
                      </a:r>
                    </a:p>
                  </a:txBody>
                  <a:tcPr marL="171450" marR="171450" marT="57150" marB="5715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Attio</a:t>
                      </a:r>
                    </a:p>
                  </a:txBody>
                  <a:tcPr marL="171450" marR="171450" marT="57150" marB="5715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Белый / графит</a:t>
                      </a:r>
                    </a:p>
                  </a:txBody>
                  <a:tcPr marL="171450" marR="171450" marT="57150" marB="5715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folk</a:t>
                      </a:r>
                    </a:p>
                  </a:txBody>
                  <a:tcPr marL="171450" marR="171450" marT="57150" marB="5715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Тёплая бумага / чёрный</a:t>
                      </a:r>
                    </a:p>
                  </a:txBody>
                  <a:tcPr marL="171450" marR="171450" marT="57150" marB="5715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Mesh, ранее Clay</a:t>
                      </a:r>
                    </a:p>
                  </a:txBody>
                  <a:tcPr marL="171450" marR="171450" marT="57150" marB="5715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Чёрный / белый, свечение</a:t>
                      </a:r>
                    </a:p>
                  </a:txBody>
                  <a:tcPr marL="171450" marR="171450" marT="57150" marB="5715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Dex</a:t>
                      </a:r>
                    </a:p>
                  </a:txBody>
                  <a:tcPr marL="171450" marR="171450" marT="57150" marB="5715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Синий / барвинковый</a:t>
                      </a:r>
                    </a:p>
                  </a:txBody>
                  <a:tcPr marL="171450" marR="171450" marT="57150" marB="5715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DF73E-FC1E-40CA-96F4-FB8A30BF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05075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Цвет категории</a:t>
            </a:r>
          </a:p>
          <a:p xmlns:a="http://schemas.openxmlformats.org/drawingml/2006/main">
            <a:pPr algn="l">
              <a:defRPr sz="255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не диктует выбор.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505F6-B4FB-452A-A2F1-F6BD3A49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95725"/>
            <a:ext cx="32385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Для CRM Naura важнее отличиться от Cards и Meets внутри своей экосистемы.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DFD7B-D9CD-456E-8EB4-887D0853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36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Качественный срез 7 брендов. Pipedrive — медиакит 2024; остальные — текущие публичные страницы.</a:t>
            </a:r>
          </a:p>
        </p:txBody>
      </p:sp>
    </p:spTree>
    <p:extLst>
      <p:ext uri="{BB962C8B-B14F-4D97-AF65-F5344CB8AC3E}">
        <p14:creationId xmlns:p14="http://schemas.microsoft.com/office/powerpoint/2010/main" val="4315211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C92A9-1BB5-49B7-B15F-6CABA438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Визитки допускают разные характеры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A4048-1255-4AA6-8DEB-42B6550A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1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Тёплая база уже встречается у конкурентов; сама по себе она не создаёт отличимость.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3D9B2-BCF0-4E45-B524-57530BBD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91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52675"/>
          <a:ext xmlns:a="http://schemas.openxmlformats.org/drawingml/2006/main" cx="78105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715000"/>
              </a:tblGrid>
              <a:tr h="65151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Бренд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D8D0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Наблюдаемый приём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D8D0C2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HiHello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Фиолетовый + розово-персиковый градиент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Blinq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Коралловые CTA на кремовой основе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Popl Cards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Бледно-зелёный фон, чёрные CTA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Mobilo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Красный бренд, тёмно-синие CTA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6F942-75F3-41CE-B164-5AB582F5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4003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834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8346E"/>
                </a:solidFill>
                <a:latin typeface="Helvetica Neue"/>
                <a:ea typeface="Helvetica Neue"/>
                <a:cs typeface="Helvetica Neue"/>
              </a:rPr>
              <a:t>Для Naura Cards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CCA5E-AF8D-4F82-A9C7-88BE6AF9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95650"/>
            <a:ext cx="2667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Индиго маркирует оболочку продукта.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Визитка пользователя сохраняет его собственный бренд.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D7FE2-7CF6-45B8-A79B-F75190BD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36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Popl: изучена именно страница Digital Business Cards, а не главная GTM.</a:t>
            </a:r>
          </a:p>
        </p:txBody>
      </p:sp>
    </p:spTree>
    <p:extLst>
      <p:ext uri="{BB962C8B-B14F-4D97-AF65-F5344CB8AC3E}">
        <p14:creationId xmlns:p14="http://schemas.microsoft.com/office/powerpoint/2010/main" val="12477401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C2C7F-F88C-4995-92D2-4BCAC679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Оранжевый Meets стоит сохранить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AF0C8-36C7-4321-A1AB-C35B4D43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1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Для смены уже существующего акцента нет убедительного рыночного основания.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BCC29-175D-417E-97D9-EEDB2806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91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52675"/>
          <a:ext xmlns:a="http://schemas.openxmlformats.org/drawingml/2006/main" cx="78105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334000"/>
              </a:tblGrid>
              <a:tr h="65151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Сервис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D8D0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Наблюдаемое оформление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D8D0C2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RandomCoffee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Насыщенный синий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Donut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Фиолетовый / лавандовые поля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Lunchclub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Синий-индиго / белая основа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Timeleft¹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Персиково-розовый градиент, фото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FF07E-3FA6-4C04-B5F3-7AB6E835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765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832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A83200"/>
                </a:solidFill>
                <a:latin typeface="Helvetica Neue"/>
                <a:ea typeface="Helvetica Neue"/>
                <a:cs typeface="Helvetica Neue"/>
              </a:rPr>
              <a:t>#FB4D00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DFE88-729E-4415-8A16-B2C8AB0F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400425"/>
            <a:ext cx="27146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Уже используется в Meets.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Продолжает узнаваемость и отделяет встречи от CRM и Cards.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3C4AB-F1D6-4668-B0F0-C3A4D387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36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¹ Timeleft — смежный социальный сервис. Осмотр сайта Lunchclub не подтверждает работу мэтчинга.</a:t>
            </a:r>
          </a:p>
        </p:txBody>
      </p:sp>
    </p:spTree>
    <p:extLst>
      <p:ext uri="{BB962C8B-B14F-4D97-AF65-F5344CB8AC3E}">
        <p14:creationId xmlns:p14="http://schemas.microsoft.com/office/powerpoint/2010/main" val="5280659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877C1-89F3-45F2-A1A0-9E6CD11D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Сравнили три системы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37CE5-D3DB-4A0C-8DC1-C0741D20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1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Выбираем A: узнаваемость Meets и два сдержанных акцента на общей основе.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259E4-350B-4476-A0B4-D201A150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91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352675"/>
          <a:ext xmlns:a="http://schemas.openxmlformats.org/drawingml/2006/main" cx="109728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24100"/>
                <a:gridCol w="1771650"/>
                <a:gridCol w="1771650"/>
                <a:gridCol w="1771650"/>
                <a:gridCol w="3333750"/>
              </a:tblGrid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Вариант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D8D0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CRM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D8D0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Cards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D8D0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Meets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D8D0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Компромисс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D8D0C2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· основной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#356F6B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356F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#5754A8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5754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#FB4D00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B4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Оранжевый требует дозировки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 · привычный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#4A66AD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4A66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#2B8978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2B8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#E77E45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E77E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Меняется точный цвет Meets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 · мягкий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#56768C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567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#A16885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A168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#C77C52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C77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Слабее мелкие маркеры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56D7F-90C3-4B57-8861-A4D20DCE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36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Резерв для Cards: фиолетовый #8159A6. Он дальше от CRM по оттенку, но даёт меньше запаса контраста.</a:t>
            </a:r>
          </a:p>
        </p:txBody>
      </p:sp>
    </p:spTree>
    <p:extLst>
      <p:ext uri="{BB962C8B-B14F-4D97-AF65-F5344CB8AC3E}">
        <p14:creationId xmlns:p14="http://schemas.microsoft.com/office/powerpoint/2010/main" val="7944783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680F4-DC44-412C-A761-4F90F2A1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CRM: глубокий бирюзовый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0A85A-5EA7-4447-B910-A8A76C1F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91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98416-6BA1-49C3-BFE7-F18BFE43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04C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204C49"/>
                </a:solidFill>
                <a:latin typeface="Helvetica Neue"/>
                <a:ea typeface="Helvetica Neue"/>
                <a:cs typeface="Helvetica Neue"/>
              </a:rPr>
              <a:t>#356F6B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3E130-E387-437B-9FF8-FAB990C2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Спокойный индекс продукта для долгосрочных отношений.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72CCC-CB9C-471F-BC41-CD3DDAC5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320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Маркер CRM, активные элементы, детали графа связей.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38E86-3265-4CD6-A5ED-DB950BED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219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Не превращать брендовый teal в универсальный статус «успешно».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5620a0f9f4b18"/>
          <a:stretch xmlns:a="http://schemas.openxmlformats.org/drawingml/2006/main"/>
        </p:blipFill>
        <p:spPr>
          <a:xfrm xmlns:a="http://schemas.openxmlformats.org/drawingml/2006/main">
            <a:off x="4438650" y="1438275"/>
            <a:ext cx="7143750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62716-01F6-44B5-B2BC-10267CA2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267450"/>
            <a:ext cx="6648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Цветовой концепт · не текущий экран и не спецификация интерфейса</a:t>
            </a:r>
          </a:p>
        </p:txBody>
      </p:sp>
    </p:spTree>
    <p:extLst>
      <p:ext uri="{BB962C8B-B14F-4D97-AF65-F5344CB8AC3E}">
        <p14:creationId xmlns:p14="http://schemas.microsoft.com/office/powerpoint/2010/main" val="1721026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CC9CC-227E-4F6D-8557-5C13C623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Cards: чернильный индиго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4BA1A-255B-4DB1-9A72-80870EF6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91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209A0-2088-4205-9BE8-604E2E5E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3834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38346E"/>
                </a:solidFill>
                <a:latin typeface="Helvetica Neue"/>
                <a:ea typeface="Helvetica Neue"/>
                <a:cs typeface="Helvetica Neue"/>
              </a:rPr>
              <a:t>#5754A8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22FA0-E07C-4328-986E-F4C7B642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Цветная краска на тёплой бумажной основе.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9B120-9556-4A40-8A59-D430A7B1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320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Оболочка Cards, обмен контактом, маленькие графические акценты.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E8C0B-43C4-4DC8-8736-5CFD35F7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219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Не перекрашивать бренды и визитки пользователей.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0292043814276"/>
          <a:stretch xmlns:a="http://schemas.openxmlformats.org/drawingml/2006/main"/>
        </p:blipFill>
        <p:spPr>
          <a:xfrm xmlns:a="http://schemas.openxmlformats.org/drawingml/2006/main">
            <a:off x="4438650" y="1438275"/>
            <a:ext cx="7143750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25DF5-4859-42CB-AE71-7384BDC8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267450"/>
            <a:ext cx="6648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Цветовой концепт · не текущий экран и не спецификация интерфейса</a:t>
            </a:r>
          </a:p>
        </p:txBody>
      </p:sp>
    </p:spTree>
    <p:extLst>
      <p:ext uri="{BB962C8B-B14F-4D97-AF65-F5344CB8AC3E}">
        <p14:creationId xmlns:p14="http://schemas.microsoft.com/office/powerpoint/2010/main" val="1551811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E8A76-B790-44ED-9007-942EFEFE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Meets: живой оранжевый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BD7F6-4C51-4B14-BD4F-8CA57A95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91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7ECC4-0317-43B3-AAA2-72B10E21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A832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A83200"/>
                </a:solidFill>
                <a:latin typeface="Helvetica Neue"/>
                <a:ea typeface="Helvetica Neue"/>
                <a:cs typeface="Helvetica Neue"/>
              </a:rPr>
              <a:t>#FB4D00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45B88-E378-401A-9815-57CE7FB0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Преемственность уже созданной идентичности.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D8A73-0154-4CC9-9EEB-146CED0F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320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Детали фото, маркер совпадения, небольшая карточка или акцентное слово.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97573-A670-43AC-B1D5-29B39B7A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219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На яркой заливке — тёмный текст. Для мелких подписей — тёмный orange.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6f0f42abf4063"/>
          <a:stretch xmlns:a="http://schemas.openxmlformats.org/drawingml/2006/main"/>
        </p:blipFill>
        <p:spPr>
          <a:xfrm xmlns:a="http://schemas.openxmlformats.org/drawingml/2006/main">
            <a:off x="4438650" y="1438275"/>
            <a:ext cx="7143750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64670-EA45-48B8-A259-CA2B8990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267450"/>
            <a:ext cx="6648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Цветовой концепт · не текущий экран и не спецификация интерфейса</a:t>
            </a:r>
          </a:p>
        </p:txBody>
      </p:sp>
    </p:spTree>
    <p:extLst>
      <p:ext uri="{BB962C8B-B14F-4D97-AF65-F5344CB8AC3E}">
        <p14:creationId xmlns:p14="http://schemas.microsoft.com/office/powerpoint/2010/main" val="2253810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DD053-CD3A-48E9-B7D0-0167027F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Цвет — в акцентах, не во всём тексте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4FC52-3F3A-4703-A9CB-A88D10AA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1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Заголовок можно выделить одним словом. Длинные тексты остаются чёрными.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50269-4B36-4964-8CDD-38A19CE4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91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F36C2-47B1-43F2-9657-81B00C0A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4C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04C49"/>
                </a:solidFill>
                <a:latin typeface="Helvetica Neue"/>
                <a:ea typeface="Helvetica Neue"/>
                <a:cs typeface="Helvetica Neue"/>
              </a:rPr>
              <a:t>CRM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986BE-D1EC-4421-9742-71037101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62200"/>
            <a:ext cx="5124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B0B0B"/>
                </a:solidFill>
              </a:rPr>
              <a:t>Развивайте </a:t>
            </a:r>
            <a:r>
              <a:rPr>
                <a:solidFill>
                  <a:srgbClr val="204C49"/>
                </a:solidFill>
              </a:rPr>
              <a:t>связи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03C7D-9C35-4BA0-9A0D-13609825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295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Тёмный бирюзовый текст.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A9776-E63B-4DCC-8E36-8E12F85C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34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8346E"/>
                </a:solidFill>
                <a:latin typeface="Helvetica Neue"/>
                <a:ea typeface="Helvetica Neue"/>
                <a:cs typeface="Helvetica Neue"/>
              </a:rPr>
              <a:t>Cards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633CE-C7EF-499B-86C2-E81B8ED1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52825"/>
            <a:ext cx="5124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B0B0B"/>
                </a:solidFill>
              </a:rPr>
              <a:t>Делитесь </a:t>
            </a:r>
            <a:r>
              <a:rPr>
                <a:solidFill>
                  <a:srgbClr val="38346E"/>
                </a:solidFill>
              </a:rPr>
              <a:t>собой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DFF0E-FB69-42F8-9B67-DBE85559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71875"/>
            <a:ext cx="3295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Индиго в маркере и UI.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3B53B-9500-40D2-9ECF-8D6B8E22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832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83200"/>
                </a:solidFill>
                <a:latin typeface="Helvetica Neue"/>
                <a:ea typeface="Helvetica Neue"/>
                <a:cs typeface="Helvetica Neue"/>
              </a:rPr>
              <a:t>Meets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E02B0-8978-4729-A204-C355DE11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43450"/>
            <a:ext cx="5124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B0B0B"/>
                </a:solidFill>
              </a:rPr>
              <a:t>Начните </a:t>
            </a:r>
            <a:r>
              <a:rPr>
                <a:solidFill>
                  <a:srgbClr val="A83200"/>
                </a:solidFill>
              </a:rPr>
              <a:t>разговор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025D37-3E49-4634-807A-3EBB068C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3295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Тёмный оранжевый текст.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F6E708-8DFB-43C1-88CD-EC0D91FA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36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Крупные поля — мягкий оттенок; фото — естественная цветопередача; общий основной CTA может остаться чёрным.</a:t>
            </a:r>
          </a:p>
        </p:txBody>
      </p:sp>
    </p:spTree>
    <p:extLst>
      <p:ext uri="{BB962C8B-B14F-4D97-AF65-F5344CB8AC3E}">
        <p14:creationId xmlns:p14="http://schemas.microsoft.com/office/powerpoint/2010/main" val="20659112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05166-6BB4-4E6D-B28C-A580EB34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Каждому цвету нужны три роли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08EA5-9AA3-4424-B4DB-6B22902B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1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Один HEX не подходит одновременно для пятна, фона и маленькой подписи.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98234-46FB-4635-8D82-B0C0ED8E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91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352675"/>
          <a:ext xmlns:a="http://schemas.openxmlformats.org/drawingml/2006/main" cx="1097280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2943225"/>
                <a:gridCol w="2943225"/>
                <a:gridCol w="2943225"/>
              </a:tblGrid>
              <a:tr h="81676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D8D0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Accent · маркер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D8D0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Tint · мягкое поле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D8D0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Ink · цветной текст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D8D0C2"/>
                    </a:solidFill>
                  </a:tcPr>
                </a:tc>
              </a:tr>
              <a:tr h="8167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CRM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#356F6B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356F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4C4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#DDE3E1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DDE3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#204C49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204C49"/>
                    </a:solidFill>
                  </a:tcPr>
                </a:tc>
              </a:tr>
              <a:tr h="8167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Cards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#5754A8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5754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38346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#E1E0E8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E1E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#38346E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38346E"/>
                    </a:solidFill>
                  </a:tcPr>
                </a:tc>
              </a:tr>
              <a:tr h="8167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Meets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#FB4D00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B4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A832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#F5DFD4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5DF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#A83200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A8320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52BFC-3898-4225-922C-62BA90F8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36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Tint рассчитан как 12% accent + 88% canvas в sRGB. Использовать итоговый непрозрачный HEX.</a:t>
            </a:r>
          </a:p>
        </p:txBody>
      </p:sp>
    </p:spTree>
    <p:extLst>
      <p:ext uri="{BB962C8B-B14F-4D97-AF65-F5344CB8AC3E}">
        <p14:creationId xmlns:p14="http://schemas.microsoft.com/office/powerpoint/2010/main" val="2167469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880F1-1433-4B5B-AA2E-09513974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Белый текст подходит не каждому акценту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707AD-F1BA-4D5B-9B33-F6F6F727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1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Порог обычного текста — 4,5:1. Значения ниже рассчитаны для непрозрачных цветов.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61E9C-68F0-4960-91A5-E0307197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91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352675"/>
          <a:ext xmlns:a="http://schemas.openxmlformats.org/drawingml/2006/main" cx="109728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86175"/>
                <a:gridCol w="2428875"/>
                <a:gridCol w="2428875"/>
                <a:gridCol w="2428875"/>
              </a:tblGrid>
              <a:tr h="790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Пара цветов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D8D0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CRM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D8D0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Cards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D8D0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Meets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D8D0C2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Белый на Accent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5,77 · проходит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6,48 · проходит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3,41 · не проходит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Чёрный Naura на Accent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3,41 · не проходит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3,04 · не проходит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5,78 · проходит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Ink на светлом фоне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8,64 · проходит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10,05 · проходит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6,07 · проходит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DFDF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945EB-60CF-4EF2-82A4-4C90D743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832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A83200"/>
                </a:solidFill>
                <a:latin typeface="Helvetica Neue"/>
                <a:ea typeface="Helvetica Neue"/>
                <a:cs typeface="Helvetica Neue"/>
              </a:rPr>
              <a:t>Meets: тёмная надпись на оранжевой заливке.</a:t>
            </a:r>
          </a:p>
        </p:txBody>
      </p:sp>
    </p:spTree>
    <p:extLst>
      <p:ext uri="{BB962C8B-B14F-4D97-AF65-F5344CB8AC3E}">
        <p14:creationId xmlns:p14="http://schemas.microsoft.com/office/powerpoint/2010/main" val="4823607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5D996-2A44-4F76-9BAE-568519A0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Три риска, которые нельзя решить HEX-кодом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5A456-EBE5-4307-BDAB-80AD8395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91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6FB61-3ADB-4AAC-9240-00329BBB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85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04C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204C4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555F1-47B3-4DB9-890D-1FF63384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7167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Оранжевый перетягивает внимание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65A1F-218B-4D62-9006-AC743CFF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336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Сокращать площадь насыщенной заливки, большие поля делать мягкими.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5FF59-F6B7-4BBE-9409-EF7C27C7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85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834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38346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6C35B-450B-4EFC-A460-7A246B9F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766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CRM и Cards близки по светлоте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9DE30-12A7-46E1-AE66-7A7CF6CA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3857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Всегда сохранять название продукта; проверить маркеры в малом размере.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FF253-616C-4E2C-982D-CB3C26D4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85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A832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A832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4E2AD-A584-438A-A3D3-C4660C5A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8152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Бренд смешивается со статусами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0CB6C-5A96-4D0B-BBBC-FB61B0BB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435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Успех, ошибка и предупреждение имеют свой текст, значок и отдельную роль.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10B59-C2FB-42CB-9A8E-53EE1709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36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Цвет не должен быть единственным носителем смысла. Проверка цветового зрения ещё предстоит.</a:t>
            </a:r>
          </a:p>
        </p:txBody>
      </p:sp>
    </p:spTree>
    <p:extLst>
      <p:ext uri="{BB962C8B-B14F-4D97-AF65-F5344CB8AC3E}">
        <p14:creationId xmlns:p14="http://schemas.microsoft.com/office/powerpoint/2010/main" val="1620465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B45AD-AD04-4498-87E6-6DDB3187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Утверждать палитру — на реальных блоках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DB517-5BE7-488E-BCF6-C804E6D5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1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Следующий этап — небольшой пилот, одинаковая композиция и ясный критерий выбора.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096B7-FF51-4208-8F48-9FCB3659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91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FA87A-70C6-49E9-9A2B-0A5CF405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25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4C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04C49"/>
                </a:solidFill>
                <a:latin typeface="Helvetica Neue"/>
                <a:ea typeface="Helvetica Neue"/>
                <a:cs typeface="Helvetica Neue"/>
              </a:rPr>
              <a:t>1. Сравнить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3952C-D99A-405D-B010-F2BA7DD1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32194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Три продукта рядом.</a:t>
            </a:r>
          </a:p>
          <a:p xmlns:a="http://schemas.openxmlformats.org/drawingml/2006/main">
            <a:pPr algn="l">
              <a:defRPr sz="2025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Один масштаб, одна сетка, одинаковая площадь акцента.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4F129-0E76-4E85-8BEE-E855C630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71750"/>
            <a:ext cx="325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834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8346E"/>
                </a:solidFill>
                <a:latin typeface="Helvetica Neue"/>
                <a:ea typeface="Helvetica Neue"/>
                <a:cs typeface="Helvetica Neue"/>
              </a:rPr>
              <a:t>2. Проверить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59D67-0823-432D-A804-7A6BB4D9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86150"/>
            <a:ext cx="32194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Текст, hover и focus.</a:t>
            </a:r>
          </a:p>
          <a:p xmlns:a="http://schemas.openxmlformats.org/drawingml/2006/main">
            <a:pPr algn="l">
              <a:defRPr sz="2025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Мобильный экран, оттенки серого и симуляции цветового зрения.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07163-F69F-4182-8807-0C75883E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71750"/>
            <a:ext cx="325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A832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A83200"/>
                </a:solidFill>
                <a:latin typeface="Helvetica Neue"/>
                <a:ea typeface="Helvetica Neue"/>
                <a:cs typeface="Helvetica Neue"/>
              </a:rPr>
              <a:t>3. Измерить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3CC74-D5BF-46D1-9220-5917F547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86150"/>
            <a:ext cx="32194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Понимают ли люди, где CRM, Cards и Meets?</a:t>
            </a:r>
          </a:p>
          <a:p xmlns:a="http://schemas.openxmlformats.org/drawingml/2006/main">
            <a:pPr algn="l">
              <a:defRPr sz="2025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Не меняем одновременно оффер и цвет.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9A229-58CA-4D47-9A34-0FA900C3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36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Цель следующего этапа: цветовые токены и 3 проверенных примера. Сайт в этом исследовании не менялся.</a:t>
            </a:r>
          </a:p>
        </p:txBody>
      </p:sp>
    </p:spTree>
    <p:extLst>
      <p:ext uri="{BB962C8B-B14F-4D97-AF65-F5344CB8AC3E}">
        <p14:creationId xmlns:p14="http://schemas.microsoft.com/office/powerpoint/2010/main" val="16946078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1FE5C1-3D5D-425D-9AC6-037F278B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Рекомендация: сохранить Naura,</a:t>
            </a:r>
          </a:p>
          <a:p xmlns:a="http://schemas.openxmlformats.org/drawingml/2006/main">
            <a:pPr algn="l">
              <a:def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различить продукты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C0F91-000A-4BAE-BAB8-0AD459C8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1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Тёплая общая среда и три устойчивых продуктовых маркера.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0FF5B-F036-46FB-8C1B-189AB7FC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91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857500"/>
          <a:ext xmlns:a="http://schemas.openxmlformats.org/drawingml/2006/main" cx="109728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1047750">
                <a:tc>
                  <a:txBody>
                    <a:bodyPr/>
                    <a:lstStyle/>
                    <a:p>
                      <a:r>
                        <a:rPr sz="31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CRM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356F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1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Cards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5754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150" b="1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Meets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T w="19050">
                      <a:solidFill>
                        <a:srgbClr val="F4F3F1"/>
                      </a:solidFill>
                      <a:prstDash val="solid"/>
                    </a:lnT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B4D00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#356F6B</a:t>
                      </a:r>
                    </a:p>
                  </a:txBody>
                  <a:tcPr marL="171450" marR="171450" marT="114300" marB="114300" anchor="ctr">
                    <a:lnL w="19050">
                      <a:solidFill>
                        <a:srgbClr val="F4F3F1"/>
                      </a:solidFill>
                      <a:prstDash val="solid"/>
                    </a:lnL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356F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#5754A8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5754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B0B0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#FB4D00</a:t>
                      </a:r>
                    </a:p>
                  </a:txBody>
                  <a:tcPr marL="171450" marR="171450" marT="114300" marB="114300" anchor="ctr">
                    <a:lnR w="19050">
                      <a:solidFill>
                        <a:srgbClr val="F4F3F1"/>
                      </a:solidFill>
                      <a:prstDash val="solid"/>
                    </a:lnR>
                    <a:lnB w="19050">
                      <a:solidFill>
                        <a:srgbClr val="F4F3F1"/>
                      </a:solidFill>
                      <a:prstDash val="solid"/>
                    </a:lnB>
                    <a:solidFill>
                      <a:srgbClr val="FB4D0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3B1F2-01D2-418E-AD1E-8693B99A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3295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4C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04C49"/>
                </a:solidFill>
                <a:latin typeface="Helvetica Neue"/>
                <a:ea typeface="Helvetica Neue"/>
                <a:cs typeface="Helvetica Neue"/>
              </a:rPr>
              <a:t>CRM — отношения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82D1B-2503-4E77-80D9-24F41C49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10175"/>
            <a:ext cx="338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834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8346E"/>
                </a:solidFill>
                <a:latin typeface="Helvetica Neue"/>
                <a:ea typeface="Helvetica Neue"/>
                <a:cs typeface="Helvetica Neue"/>
              </a:rPr>
              <a:t>Cards — идентичность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BDE02-7277-4265-A5FD-26C588FB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10175"/>
            <a:ext cx="338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832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A83200"/>
                </a:solidFill>
                <a:latin typeface="Helvetica Neue"/>
                <a:ea typeface="Helvetica Neue"/>
                <a:cs typeface="Helvetica Neue"/>
              </a:rPr>
              <a:t>Meets — разговор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037B8-DD4F-4C15-A7E4-A012DF8C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36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Выбор основан на преемственности, совместимости и контрасте. Это направление для пилота.</a:t>
            </a:r>
          </a:p>
        </p:txBody>
      </p:sp>
    </p:spTree>
    <p:extLst>
      <p:ext uri="{BB962C8B-B14F-4D97-AF65-F5344CB8AC3E}">
        <p14:creationId xmlns:p14="http://schemas.microsoft.com/office/powerpoint/2010/main" val="6095461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6DB1D6-3FBA-4855-B648-4266DA10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Источники · CRM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3BC9C-D635-4398-8796-F74FC743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1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Официальные страницы. Цветовые наблюдения проверены 16 сентября 2026.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CCC33-EA43-436B-AD8F-DEE8100E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91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C08E0-B491-4783-B8C8-278BE667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Salesforce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46E1A-31D6-439F-B068-78307BB1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05050"/>
            <a:ext cx="5800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CRM и Brand Central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C1DB6-1529-4484-AF18-A5953E1E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305050"/>
            <a:ext cx="2562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4C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u="sng">
                <a:solidFill>
                  <a:srgbClr val="204C4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b59551f7f3c843dc"/>
              </a:rPr>
              <a:t>Открыть источник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27936-6CF1-44FB-884B-58AAA638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HubSpot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F992C-661E-4A4F-809F-5ED204D6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19400"/>
            <a:ext cx="5800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CRM; trademark guidelines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06A8C-BD59-48D8-9136-092B7655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19400"/>
            <a:ext cx="2562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4C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u="sng">
                <a:solidFill>
                  <a:srgbClr val="204C4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a9edc19c93b24b6a"/>
              </a:rPr>
              <a:t>Открыть источник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04ADB-6470-4F39-8383-40C6642C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Pipedrive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EC197E-4748-4065-8E7F-69AF450E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33750"/>
            <a:ext cx="5800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Press kit; partner media kit 2024, стр. 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50668-E529-4F0E-A16E-81F7A465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333750"/>
            <a:ext cx="2562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4C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u="sng">
                <a:solidFill>
                  <a:srgbClr val="204C4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55db7064afda4d0c"/>
              </a:rPr>
              <a:t>Открыть источник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CBF1A-12ED-4E2E-AF18-7BBEA53C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Attio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F6414-4551-4BF9-9C3B-BEABE2A3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48100"/>
            <a:ext cx="5800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Главная и brand guidelines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728A5-8819-4092-A63A-45120637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848100"/>
            <a:ext cx="2562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4C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u="sng">
                <a:solidFill>
                  <a:srgbClr val="204C4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5cea976e0d0d47df"/>
              </a:rPr>
              <a:t>Открыть источник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3F0D46-0F2B-410F-A598-0852960C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folk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F06685-85C9-4DEE-9B40-397B6188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62450"/>
            <a:ext cx="5800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Актуальная продуктовая главная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524719-414A-4A57-9A77-DECC7191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362450"/>
            <a:ext cx="2562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4C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u="sng">
                <a:solidFill>
                  <a:srgbClr val="204C4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858c1b6e03d145b1"/>
              </a:rPr>
              <a:t>Открыть источник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176B1D-413B-422A-8321-7FE90214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Mesh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A2530A-E2B6-4DBE-AADA-18E099A5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76800"/>
            <a:ext cx="5800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Главная; история Clay → Mesh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8476DC-5639-4292-A804-EC2C24BE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876800"/>
            <a:ext cx="2562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4C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u="sng">
                <a:solidFill>
                  <a:srgbClr val="204C4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a8625c0a895742d6"/>
              </a:rPr>
              <a:t>Открыть источник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5B0B59-3B7E-4561-8D99-8617FC42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Dex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375D03-7C80-452F-AD36-F8AA1FBF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91150"/>
            <a:ext cx="5800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Главная; About personal CRM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9D15E1-1678-45E6-95D4-BF25F56F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391150"/>
            <a:ext cx="2562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4C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u="sng">
                <a:solidFill>
                  <a:srgbClr val="204C4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65d8081c34b24fd6"/>
              </a:rPr>
              <a:t>Открыть источник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C0116A-2CDC-40A5-B2AE-832E3325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36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Ссылки кликабельны. Дополнительные URL и оговорки — в заметках к соответствующим слайдам.</a:t>
            </a:r>
          </a:p>
        </p:txBody>
      </p:sp>
    </p:spTree>
    <p:extLst>
      <p:ext uri="{BB962C8B-B14F-4D97-AF65-F5344CB8AC3E}">
        <p14:creationId xmlns:p14="http://schemas.microsoft.com/office/powerpoint/2010/main" val="16512823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B850A-2112-45B1-B7EF-A3CD08AC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B0B0B"/>
                </a:solidFill>
                <a:latin typeface="Helvetica Neue"/>
                <a:ea typeface="Helvetica Neue"/>
                <a:cs typeface="Helvetica Neue"/>
              </a:rPr>
              <a:t>Источники · Cards, Meets и контраст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01318-D3D1-435A-B520-2B700E7D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1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Первичные страницы продуктов и официальные пояснения W3C.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9C6DA-C918-409F-AB73-A262CE84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91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650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9EB76-D225-4311-A24E-8DC59035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834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u="sng">
                <a:solidFill>
                  <a:srgbClr val="38346E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cc1754c251fd431d"/>
              </a:rPr>
              <a:t>HiHello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A2995-E28A-47EF-9819-8B0BB988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834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u="sng">
                <a:solidFill>
                  <a:srgbClr val="38346E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9d8d084884554e0e"/>
              </a:rPr>
              <a:t>Blinq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52940-6F4F-4F53-BA47-EF2E5ABF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834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u="sng">
                <a:solidFill>
                  <a:srgbClr val="38346E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afa8c4374696493f"/>
              </a:rPr>
              <a:t>Popl · Digital Business Cards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5F860-2EE1-4280-82AF-1D5AC7C8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834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u="sng">
                <a:solidFill>
                  <a:srgbClr val="38346E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522e2d442b2d4f2b"/>
              </a:rPr>
              <a:t>Mobilo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C688F-9EB1-4863-AFB4-74A14503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43150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32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u="sng">
                <a:solidFill>
                  <a:srgbClr val="A83200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5795ba4f7498495b"/>
              </a:rPr>
              <a:t>RandomCoffee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8BFF4-FE40-45A8-A6B5-5259B8C9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95600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32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u="sng">
                <a:solidFill>
                  <a:srgbClr val="A83200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c9b8bd01c3724fd4"/>
              </a:rPr>
              <a:t>Donut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1EB82-D985-4C59-813C-302F3204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48050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32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u="sng">
                <a:solidFill>
                  <a:srgbClr val="A83200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0883511a3c094891"/>
              </a:rPr>
              <a:t>Lunchclub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83CA7-9A71-458C-AD21-0FB0DA2B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32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u="sng">
                <a:solidFill>
                  <a:srgbClr val="A83200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94634e65a34b4303"/>
              </a:rPr>
              <a:t>Timeleft · смежный сервис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C8937F-A4BF-4B47-83A6-57E33FE1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4C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u="sng">
                <a:solidFill>
                  <a:srgbClr val="204C4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eb6e63db90c24463"/>
              </a:rPr>
              <a:t>W3C · Contrast (Minimum)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23988-F291-4267-8BD1-B2313CD1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4C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u="sng">
                <a:solidFill>
                  <a:srgbClr val="204C4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cc19ad269c4c40c6"/>
              </a:rPr>
              <a:t>W3C · Use of Color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91CC9A-9BF4-46DE-AE20-C6CC9CA4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4C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u="sng">
                <a:solidFill>
                  <a:srgbClr val="204C4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fb670b0f83384c36"/>
              </a:rPr>
              <a:t>W3C · Non-text Contrast</a:t>
            </a:r>
          </a:p>
        </p:txBody>
      </p:sp>
    </p:spTree>
    <p:extLst>
      <p:ext uri="{BB962C8B-B14F-4D97-AF65-F5344CB8AC3E}">
        <p14:creationId xmlns:p14="http://schemas.microsoft.com/office/powerpoint/2010/main" val="8648344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2026-09-16T01:20:02.8950000Z</dcterms:created>
  <dcterms:modified xsi:type="dcterms:W3CDTF">2026-09-16T01:20:02.8950000Z</dcterms:modified>
</coreProperties>
</file>